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56" r:id="rId3"/>
    <p:sldId id="280" r:id="rId4"/>
    <p:sldId id="279" r:id="rId5"/>
    <p:sldId id="271" r:id="rId6"/>
    <p:sldId id="274" r:id="rId7"/>
    <p:sldId id="273" r:id="rId8"/>
    <p:sldId id="272" r:id="rId9"/>
    <p:sldId id="277" r:id="rId10"/>
    <p:sldId id="275" r:id="rId11"/>
    <p:sldId id="276" r:id="rId12"/>
    <p:sldId id="278" r:id="rId13"/>
  </p:sldIdLst>
  <p:sldSz cx="12192000" cy="6858000"/>
  <p:notesSz cx="6858000" cy="9144000"/>
  <p:defaultTextStyle>
    <a:defPPr>
      <a:defRPr lang="hi-I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EF0030-85E2-4750-B92F-BC23323F4799}" v="3" dt="2026-10-01T05:22:28.5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. Aryan" userId="b2073f8424c95c87" providerId="LiveId" clId="{053FD2AC-6FD6-4E73-A8E4-11BE512DCF4E}"/>
    <pc:docChg chg="undo custSel addSld modSld">
      <pc:chgData name="Mr. Aryan" userId="b2073f8424c95c87" providerId="LiveId" clId="{053FD2AC-6FD6-4E73-A8E4-11BE512DCF4E}" dt="2026-10-01T05:23:41.640" v="35" actId="20577"/>
      <pc:docMkLst>
        <pc:docMk/>
      </pc:docMkLst>
      <pc:sldChg chg="addSp delSp modSp mod modTransition">
        <pc:chgData name="Mr. Aryan" userId="b2073f8424c95c87" providerId="LiveId" clId="{053FD2AC-6FD6-4E73-A8E4-11BE512DCF4E}" dt="2026-10-01T05:18:12.103" v="15"/>
        <pc:sldMkLst>
          <pc:docMk/>
          <pc:sldMk cId="2386964670" sldId="256"/>
        </pc:sldMkLst>
        <pc:spChg chg="add">
          <ac:chgData name="Mr. Aryan" userId="b2073f8424c95c87" providerId="LiveId" clId="{053FD2AC-6FD6-4E73-A8E4-11BE512DCF4E}" dt="2026-10-01T05:15:06.149" v="13" actId="22"/>
          <ac:spMkLst>
            <pc:docMk/>
            <pc:sldMk cId="2386964670" sldId="256"/>
            <ac:spMk id="3" creationId="{97C0089C-B02D-D14D-6A7C-EBA603BF0BD5}"/>
          </ac:spMkLst>
        </pc:spChg>
        <pc:spChg chg="add">
          <ac:chgData name="Mr. Aryan" userId="b2073f8424c95c87" providerId="LiveId" clId="{053FD2AC-6FD6-4E73-A8E4-11BE512DCF4E}" dt="2026-10-01T05:15:06.149" v="13" actId="22"/>
          <ac:spMkLst>
            <pc:docMk/>
            <pc:sldMk cId="2386964670" sldId="256"/>
            <ac:spMk id="5" creationId="{173B5935-90C5-C2FA-F475-0B66624D58EB}"/>
          </ac:spMkLst>
        </pc:spChg>
        <pc:spChg chg="del">
          <ac:chgData name="Mr. Aryan" userId="b2073f8424c95c87" providerId="LiveId" clId="{053FD2AC-6FD6-4E73-A8E4-11BE512DCF4E}" dt="2026-10-01T05:15:05.012" v="12" actId="478"/>
          <ac:spMkLst>
            <pc:docMk/>
            <pc:sldMk cId="2386964670" sldId="256"/>
            <ac:spMk id="8" creationId="{55222326-05E2-C20C-7C39-A903AD388E2E}"/>
          </ac:spMkLst>
        </pc:spChg>
        <pc:spChg chg="del mod">
          <ac:chgData name="Mr. Aryan" userId="b2073f8424c95c87" providerId="LiveId" clId="{053FD2AC-6FD6-4E73-A8E4-11BE512DCF4E}" dt="2026-10-01T05:15:05.012" v="12" actId="478"/>
          <ac:spMkLst>
            <pc:docMk/>
            <pc:sldMk cId="2386964670" sldId="256"/>
            <ac:spMk id="10" creationId="{AE5F6FEC-A96B-B8DF-005F-5F4CC6F870ED}"/>
          </ac:spMkLst>
        </pc:spChg>
        <pc:picChg chg="del">
          <ac:chgData name="Mr. Aryan" userId="b2073f8424c95c87" providerId="LiveId" clId="{053FD2AC-6FD6-4E73-A8E4-11BE512DCF4E}" dt="2026-10-01T05:15:05.012" v="12" actId="478"/>
          <ac:picMkLst>
            <pc:docMk/>
            <pc:sldMk cId="2386964670" sldId="256"/>
            <ac:picMk id="6" creationId="{D04C6522-0DC0-F145-0801-280967AAAF3D}"/>
          </ac:picMkLst>
        </pc:picChg>
        <pc:picChg chg="add">
          <ac:chgData name="Mr. Aryan" userId="b2073f8424c95c87" providerId="LiveId" clId="{053FD2AC-6FD6-4E73-A8E4-11BE512DCF4E}" dt="2026-10-01T05:15:06.149" v="13" actId="22"/>
          <ac:picMkLst>
            <pc:docMk/>
            <pc:sldMk cId="2386964670" sldId="256"/>
            <ac:picMk id="9" creationId="{125CF074-7C08-3978-2401-7022800B6432}"/>
          </ac:picMkLst>
        </pc:picChg>
      </pc:sldChg>
      <pc:sldChg chg="modSp mod modTransition">
        <pc:chgData name="Mr. Aryan" userId="b2073f8424c95c87" providerId="LiveId" clId="{053FD2AC-6FD6-4E73-A8E4-11BE512DCF4E}" dt="2026-10-01T05:20:34.391" v="23" actId="1076"/>
        <pc:sldMkLst>
          <pc:docMk/>
          <pc:sldMk cId="0" sldId="270"/>
        </pc:sldMkLst>
        <pc:spChg chg="mod">
          <ac:chgData name="Mr. Aryan" userId="b2073f8424c95c87" providerId="LiveId" clId="{053FD2AC-6FD6-4E73-A8E4-11BE512DCF4E}" dt="2026-10-01T05:20:34.391" v="23" actId="1076"/>
          <ac:spMkLst>
            <pc:docMk/>
            <pc:sldMk cId="0" sldId="270"/>
            <ac:spMk id="4" creationId="{C2E4E37F-ACD4-BB26-E67E-E5B659D9F2E0}"/>
          </ac:spMkLst>
        </pc:spChg>
      </pc:sldChg>
      <pc:sldChg chg="modTransition">
        <pc:chgData name="Mr. Aryan" userId="b2073f8424c95c87" providerId="LiveId" clId="{053FD2AC-6FD6-4E73-A8E4-11BE512DCF4E}" dt="2026-10-01T05:18:12.103" v="15"/>
        <pc:sldMkLst>
          <pc:docMk/>
          <pc:sldMk cId="3447037032" sldId="271"/>
        </pc:sldMkLst>
      </pc:sldChg>
      <pc:sldChg chg="modTransition">
        <pc:chgData name="Mr. Aryan" userId="b2073f8424c95c87" providerId="LiveId" clId="{053FD2AC-6FD6-4E73-A8E4-11BE512DCF4E}" dt="2026-10-01T05:18:12.103" v="15"/>
        <pc:sldMkLst>
          <pc:docMk/>
          <pc:sldMk cId="2957116346" sldId="272"/>
        </pc:sldMkLst>
      </pc:sldChg>
      <pc:sldChg chg="modTransition">
        <pc:chgData name="Mr. Aryan" userId="b2073f8424c95c87" providerId="LiveId" clId="{053FD2AC-6FD6-4E73-A8E4-11BE512DCF4E}" dt="2026-10-01T05:18:12.103" v="15"/>
        <pc:sldMkLst>
          <pc:docMk/>
          <pc:sldMk cId="3016259789" sldId="273"/>
        </pc:sldMkLst>
      </pc:sldChg>
      <pc:sldChg chg="modTransition">
        <pc:chgData name="Mr. Aryan" userId="b2073f8424c95c87" providerId="LiveId" clId="{053FD2AC-6FD6-4E73-A8E4-11BE512DCF4E}" dt="2026-10-01T05:18:12.103" v="15"/>
        <pc:sldMkLst>
          <pc:docMk/>
          <pc:sldMk cId="533612933" sldId="274"/>
        </pc:sldMkLst>
      </pc:sldChg>
      <pc:sldChg chg="modTransition">
        <pc:chgData name="Mr. Aryan" userId="b2073f8424c95c87" providerId="LiveId" clId="{053FD2AC-6FD6-4E73-A8E4-11BE512DCF4E}" dt="2026-10-01T05:18:12.103" v="15"/>
        <pc:sldMkLst>
          <pc:docMk/>
          <pc:sldMk cId="3945814931" sldId="275"/>
        </pc:sldMkLst>
      </pc:sldChg>
      <pc:sldChg chg="modTransition">
        <pc:chgData name="Mr. Aryan" userId="b2073f8424c95c87" providerId="LiveId" clId="{053FD2AC-6FD6-4E73-A8E4-11BE512DCF4E}" dt="2026-10-01T05:18:12.103" v="15"/>
        <pc:sldMkLst>
          <pc:docMk/>
          <pc:sldMk cId="1623157208" sldId="276"/>
        </pc:sldMkLst>
      </pc:sldChg>
      <pc:sldChg chg="modSp mod modTransition">
        <pc:chgData name="Mr. Aryan" userId="b2073f8424c95c87" providerId="LiveId" clId="{053FD2AC-6FD6-4E73-A8E4-11BE512DCF4E}" dt="2026-10-01T05:23:41.640" v="35" actId="20577"/>
        <pc:sldMkLst>
          <pc:docMk/>
          <pc:sldMk cId="2237182679" sldId="277"/>
        </pc:sldMkLst>
        <pc:graphicFrameChg chg="modGraphic">
          <ac:chgData name="Mr. Aryan" userId="b2073f8424c95c87" providerId="LiveId" clId="{053FD2AC-6FD6-4E73-A8E4-11BE512DCF4E}" dt="2026-10-01T05:23:41.640" v="35" actId="20577"/>
          <ac:graphicFrameMkLst>
            <pc:docMk/>
            <pc:sldMk cId="2237182679" sldId="277"/>
            <ac:graphicFrameMk id="16" creationId="{B30FC6AC-BA78-3EB8-99DA-330B10DE643E}"/>
          </ac:graphicFrameMkLst>
        </pc:graphicFrameChg>
      </pc:sldChg>
      <pc:sldChg chg="modTransition">
        <pc:chgData name="Mr. Aryan" userId="b2073f8424c95c87" providerId="LiveId" clId="{053FD2AC-6FD6-4E73-A8E4-11BE512DCF4E}" dt="2026-10-01T05:18:12.103" v="15"/>
        <pc:sldMkLst>
          <pc:docMk/>
          <pc:sldMk cId="1483898513" sldId="278"/>
        </pc:sldMkLst>
      </pc:sldChg>
      <pc:sldChg chg="addSp delSp modSp add mod modTransition">
        <pc:chgData name="Mr. Aryan" userId="b2073f8424c95c87" providerId="LiveId" clId="{053FD2AC-6FD6-4E73-A8E4-11BE512DCF4E}" dt="2026-10-01T05:22:29.382" v="33"/>
        <pc:sldMkLst>
          <pc:docMk/>
          <pc:sldMk cId="2228112567" sldId="279"/>
        </pc:sldMkLst>
        <pc:spChg chg="add del mod">
          <ac:chgData name="Mr. Aryan" userId="b2073f8424c95c87" providerId="LiveId" clId="{053FD2AC-6FD6-4E73-A8E4-11BE512DCF4E}" dt="2026-10-01T05:22:27.657" v="30"/>
          <ac:spMkLst>
            <pc:docMk/>
            <pc:sldMk cId="2228112567" sldId="279"/>
            <ac:spMk id="2" creationId="{71E6CFC5-B213-9485-29A7-6F75A94FF7B4}"/>
          </ac:spMkLst>
        </pc:spChg>
        <pc:spChg chg="add del mod">
          <ac:chgData name="Mr. Aryan" userId="b2073f8424c95c87" providerId="LiveId" clId="{053FD2AC-6FD6-4E73-A8E4-11BE512DCF4E}" dt="2026-10-01T05:22:29.382" v="33"/>
          <ac:spMkLst>
            <pc:docMk/>
            <pc:sldMk cId="2228112567" sldId="279"/>
            <ac:spMk id="3" creationId="{52FD72AC-5AA2-E7F5-883F-54DFCE40F63B}"/>
          </ac:spMkLst>
        </pc:spChg>
        <pc:spChg chg="mod">
          <ac:chgData name="Mr. Aryan" userId="b2073f8424c95c87" providerId="LiveId" clId="{053FD2AC-6FD6-4E73-A8E4-11BE512DCF4E}" dt="2026-10-01T05:15:19.693" v="14" actId="1076"/>
          <ac:spMkLst>
            <pc:docMk/>
            <pc:sldMk cId="2228112567" sldId="279"/>
            <ac:spMk id="8" creationId="{0F0C3C1B-21D2-3367-A29E-3F32438CD962}"/>
          </ac:spMkLst>
        </pc:spChg>
        <pc:spChg chg="mod">
          <ac:chgData name="Mr. Aryan" userId="b2073f8424c95c87" providerId="LiveId" clId="{053FD2AC-6FD6-4E73-A8E4-11BE512DCF4E}" dt="2026-10-01T05:22:23.918" v="27" actId="20577"/>
          <ac:spMkLst>
            <pc:docMk/>
            <pc:sldMk cId="2228112567" sldId="279"/>
            <ac:spMk id="10" creationId="{31B13EAD-EACD-FB74-B2C5-51D276A8C093}"/>
          </ac:spMkLst>
        </pc:spChg>
      </pc:sldChg>
      <pc:sldChg chg="addSp delSp modSp add mod">
        <pc:chgData name="Mr. Aryan" userId="b2073f8424c95c87" providerId="LiveId" clId="{053FD2AC-6FD6-4E73-A8E4-11BE512DCF4E}" dt="2026-10-01T05:19:54.683" v="22" actId="22"/>
        <pc:sldMkLst>
          <pc:docMk/>
          <pc:sldMk cId="3054746367" sldId="280"/>
        </pc:sldMkLst>
        <pc:spChg chg="add del mod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4" creationId="{4D8E5144-3F2B-8E97-3C3D-251BEE011C72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10" creationId="{4C6B64CC-AC97-9BF4-8595-0B7893FE0859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12" creationId="{1BC89A1F-449B-E73C-CA3C-624A36C5D28F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16" creationId="{EC86059A-FA5B-F852-1AC4-8D898C98B401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18" creationId="{B8749878-819C-C3BC-D169-B8D7197EBA96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22" creationId="{25D4ED69-AAF4-9629-0088-95AA87D1E10B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24" creationId="{338DBFB7-B768-4AB9-BD5D-92EAE541C0AD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28" creationId="{01EF31C8-3CB3-DC6C-183A-69DF244B7F3E}"/>
          </ac:spMkLst>
        </pc:spChg>
        <pc:spChg chg="add del">
          <ac:chgData name="Mr. Aryan" userId="b2073f8424c95c87" providerId="LiveId" clId="{053FD2AC-6FD6-4E73-A8E4-11BE512DCF4E}" dt="2026-10-01T05:19:51.879" v="21" actId="22"/>
          <ac:spMkLst>
            <pc:docMk/>
            <pc:sldMk cId="3054746367" sldId="280"/>
            <ac:spMk id="30" creationId="{80EC3031-863C-6DFE-4D3C-1BCD4972B0DA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34" creationId="{87C068D0-C34B-73A7-4197-29894B48BD70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38" creationId="{BED30464-B998-A1F1-D746-EAF496EE2E4B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40" creationId="{EE30944C-5772-3679-7D5F-4617AF5A6E5C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44" creationId="{5D7C77A8-DD5A-AC48-7D09-148E290AFF37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46" creationId="{B9BF9F23-611E-2430-B4D9-F37FC066F562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50" creationId="{4EF40A83-044F-64CA-5CDC-F5885F4F4CAA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52" creationId="{5A28C260-CC76-672F-F3B2-C1E8334E9425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56" creationId="{E797616B-FAF4-C4FF-88BC-F728431B3D7B}"/>
          </ac:spMkLst>
        </pc:spChg>
        <pc:spChg chg="add">
          <ac:chgData name="Mr. Aryan" userId="b2073f8424c95c87" providerId="LiveId" clId="{053FD2AC-6FD6-4E73-A8E4-11BE512DCF4E}" dt="2026-10-01T05:19:54.683" v="22" actId="22"/>
          <ac:spMkLst>
            <pc:docMk/>
            <pc:sldMk cId="3054746367" sldId="280"/>
            <ac:spMk id="58" creationId="{775426C7-ED2D-DD12-F4ED-BEDE82DD0F78}"/>
          </ac:spMkLst>
        </pc:spChg>
        <pc:picChg chg="add del">
          <ac:chgData name="Mr. Aryan" userId="b2073f8424c95c87" providerId="LiveId" clId="{053FD2AC-6FD6-4E73-A8E4-11BE512DCF4E}" dt="2026-10-01T05:19:51.879" v="21" actId="22"/>
          <ac:picMkLst>
            <pc:docMk/>
            <pc:sldMk cId="3054746367" sldId="280"/>
            <ac:picMk id="7" creationId="{863CF6FA-5BAD-4EC6-8823-8DE24C80C218}"/>
          </ac:picMkLst>
        </pc:picChg>
        <pc:picChg chg="add">
          <ac:chgData name="Mr. Aryan" userId="b2073f8424c95c87" providerId="LiveId" clId="{053FD2AC-6FD6-4E73-A8E4-11BE512DCF4E}" dt="2026-10-01T05:19:54.683" v="22" actId="22"/>
          <ac:picMkLst>
            <pc:docMk/>
            <pc:sldMk cId="3054746367" sldId="280"/>
            <ac:picMk id="54" creationId="{C6B1AF52-D239-8C66-B759-AB755E875E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52EA11-8E80-4C35-80CF-BFF888E1156C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i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i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AA9EC0-8DA9-4D64-A511-2C7A9F2D75AF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6628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 txBox="1">
            <a:spLocks noGrp="1"/>
          </p:cNvSpPr>
          <p:nvPr>
            <p:ph type="body" idx="1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82402-1E6D-C38E-8DCE-CFEE9F9DC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26B0F-16DB-4E0A-16B1-A47895586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51A84-1811-6807-ECC3-6A35B736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67C93-A88E-C7E8-FC04-BE2E161C2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986A7-515E-8B78-9B4A-DD98645CA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833986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10FB-AD5F-6E6F-5D63-1B703C15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EAF01-99FA-E6FC-FA93-8CBD9AECC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14925-8CE1-4C32-6F13-3EF997B0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32F41-0B86-BD7C-118C-02D4AEA2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F60B2-C6E6-39A9-52BB-535CDFF69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83452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6F6F-D1A3-C317-9120-FCAD330D4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74521-ABEC-E7BE-DED3-C697B236DF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A4F3B-D5D5-646F-F17F-77BE44AC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473E3-F35C-636B-096C-A40C5915E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B5C29-554D-41CA-ED0B-37C58AE8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984624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2A10B-FBA6-5854-49B2-723C1817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BB26F-B2FE-25A4-25CA-CA513026CA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B4CB5-0DD0-9114-E89C-B7AA7E502E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3CED2-A0F8-54FD-B3DD-9602F3EC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C28D1-0EA6-AAA7-323B-A1EBF6E7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A8EE4-85AD-7339-2E1A-D8D64AAA3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95752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3DF49-A6FF-A182-41FE-04A534026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104E1A-7569-133B-0229-55F80E246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BFA28-6AA0-B7D9-8E63-CFB868EF4B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1B614-1090-F269-6810-75AD04EBB2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FE48D5-5972-0EB3-65BE-790B11BCFC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C1A5D-87E8-36DA-DB8F-7E01870C8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66BD07-8A63-B7E1-3CEB-DBB846B9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180401-8513-CBB4-EDC7-1A43CC58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691217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AF5A-C62A-C221-4B55-B589812A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6C732-A501-C069-5992-CB476C6A4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BB64B1-B3EB-9DDF-F5CF-FF444AC44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76292-C668-2024-9856-735D561E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85573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97893A-22CB-9FC3-559F-F62EE64AE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1C18D0-D81C-F5D7-53D8-7302EA8F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80851-5E7A-A145-6D02-548D14929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17361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DC66A-308C-C9B6-B46D-A4FCC4D56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C3F7-FEB5-BEA4-E207-5889A9C3B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7F018-E838-CF36-C965-92F86023C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BBA638-1E7F-29ED-E8E8-CA61C27EE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D1007-E49D-DE81-AB9F-FCA9B256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B0A64-22B8-EE9D-92F8-027F91DFD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240434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A1FC-601E-3FBD-764E-9EAB413A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F3804B-044A-05E4-33C9-E1B59820993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i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466C8A-2E26-58AF-0382-682026AAF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65F7B-04AB-2C3D-4F55-AC0C14199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FFC4B-2D0E-5006-8096-EB293B93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A8A31-4B15-CAC6-C381-10C29AA1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535574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063B5-33EF-75B4-B12E-D751DE74F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BE267-3E11-40B5-6725-99DF30EE9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A47BA-4AD1-D0D4-6F55-E84923CF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A2FF9-3212-31BC-CC3E-D044BD5B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6D017-71A8-D9C1-EC6A-C8BC26BB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04204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99B437-93EB-1DC7-F62F-733BDD5EC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4D0CEF-3572-855C-AA79-75461CF820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D921-9CBE-5561-813D-78A613534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E7D1A-0277-CF8B-AD91-E70616B0E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7965B-0F8F-19BB-4A8B-055721F1E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4101033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1_Title Only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5"/>
          <p:cNvSpPr txBox="1">
            <a:spLocks noGrp="1"/>
          </p:cNvSpPr>
          <p:nvPr>
            <p:ph type="title"/>
          </p:nvPr>
        </p:nvSpPr>
        <p:spPr>
          <a:xfrm>
            <a:off x="1141341" y="1867875"/>
            <a:ext cx="9909318" cy="328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400"/>
              <a:buFont typeface="Times New Roman"/>
              <a:buNone/>
              <a:defRPr sz="5333" b="0" i="0" u="none" strike="noStrike" cap="none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A5527-3879-EBCC-1887-CAF75E88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i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CC5F3-FE1D-56D0-93EC-C9875DA7F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i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5B745-4F92-3889-2EF0-75EEB5090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CA40D-F81A-4A8B-9822-50DB21AE5E5E}" type="datetimeFigureOut">
              <a:rPr lang="hi-IN" smtClean="0"/>
              <a:t>गुरुवार, 9 आश्वीन 1948</a:t>
            </a:fld>
            <a:endParaRPr lang="hi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64CD8-68B4-5005-118A-D24EA9378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i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95C9A-9F49-FFCC-973C-A7E0D2669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BE088-CF34-47B7-8C96-B10575F5EBB6}" type="slidenum">
              <a:rPr lang="hi-IN" smtClean="0"/>
              <a:t>‹#›</a:t>
            </a:fld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381218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i-I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 txBox="1"/>
          <p:nvPr/>
        </p:nvSpPr>
        <p:spPr>
          <a:xfrm>
            <a:off x="1240971" y="3256883"/>
            <a:ext cx="9433249" cy="158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54" tIns="60917" rIns="121854" bIns="60917" anchor="t" anchorCtr="0">
            <a:normAutofit fontScale="92500" lnSpcReduction="20000"/>
          </a:bodyPr>
          <a:lstStyle/>
          <a:p>
            <a:pPr algn="ctr"/>
            <a:r>
              <a:rPr lang="en-US" sz="2167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Engineering</a:t>
            </a:r>
            <a:endParaRPr sz="1500" dirty="0"/>
          </a:p>
          <a:p>
            <a:pPr algn="ctr"/>
            <a:endParaRPr sz="2167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sz="3500" b="1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AlluminiConnect</a:t>
            </a:r>
            <a:endParaRPr lang="en-US" sz="35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endParaRPr lang="en-US" sz="2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lang="en-US" b="1" kern="0" spc="-29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Software Requirements Specification &amp; Conceptual Design</a:t>
            </a:r>
            <a:endParaRPr lang="en-US" dirty="0"/>
          </a:p>
          <a:p>
            <a:pPr algn="ctr"/>
            <a:endParaRPr sz="28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2077" y="1133102"/>
            <a:ext cx="2107556" cy="212378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1750186" y="186412"/>
            <a:ext cx="8104260" cy="837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6917" rIns="0" bIns="0" anchor="b" anchorCtr="0">
            <a:spAutoFit/>
          </a:bodyPr>
          <a:lstStyle/>
          <a:p>
            <a:pPr marL="18617" marR="6770" indent="-1692" algn="ctr"/>
            <a:r>
              <a:rPr lang="en-US" sz="2667" dirty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Shri Vaishnav Vidyapeeth Vishwavidyalaya </a:t>
            </a:r>
            <a:br>
              <a:rPr lang="en-US" sz="2667" dirty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667" dirty="0">
                <a:solidFill>
                  <a:srgbClr val="19191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Shri Vaishnav Institute of Information Technology</a:t>
            </a:r>
            <a:endParaRPr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FD0480-C99D-5846-02DE-4AB0D98A7BF3}"/>
              </a:ext>
            </a:extLst>
          </p:cNvPr>
          <p:cNvSpPr txBox="1"/>
          <p:nvPr/>
        </p:nvSpPr>
        <p:spPr>
          <a:xfrm>
            <a:off x="315982" y="5001531"/>
            <a:ext cx="4649164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Mentor: Dr. </a:t>
            </a:r>
            <a:r>
              <a:rPr lang="en-US" sz="2167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Avdesh</a:t>
            </a:r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Kumar Sharma</a:t>
            </a:r>
            <a:endParaRPr lang="hi-IN" sz="2167" b="1" dirty="0">
              <a:latin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356D5-9552-5E1B-C404-AA3B3E572DFF}"/>
              </a:ext>
            </a:extLst>
          </p:cNvPr>
          <p:cNvSpPr txBox="1"/>
          <p:nvPr/>
        </p:nvSpPr>
        <p:spPr>
          <a:xfrm>
            <a:off x="315982" y="5719939"/>
            <a:ext cx="5281126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Teacher: Prof. Varsha Choudhary </a:t>
            </a:r>
            <a:endParaRPr lang="hi-IN" sz="2167" b="1" dirty="0"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E4E37F-ACD4-BB26-E67E-E5B659D9F2E0}"/>
              </a:ext>
            </a:extLst>
          </p:cNvPr>
          <p:cNvSpPr txBox="1"/>
          <p:nvPr/>
        </p:nvSpPr>
        <p:spPr>
          <a:xfrm>
            <a:off x="8162755" y="5052961"/>
            <a:ext cx="4649164" cy="109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Aryan Gore</a:t>
            </a:r>
          </a:p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Jayesh Khatke </a:t>
            </a:r>
          </a:p>
          <a:p>
            <a:r>
              <a:rPr lang="en-US" sz="2167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hi-IN" sz="2167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C0089C-B02D-D14D-6A7C-EBA603BF0BD5}"/>
              </a:ext>
            </a:extLst>
          </p:cNvPr>
          <p:cNvSpPr/>
          <p:nvPr/>
        </p:nvSpPr>
        <p:spPr>
          <a:xfrm>
            <a:off x="822960" y="193258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AlumniConnect</a:t>
            </a:r>
            <a:endParaRPr lang="en-US" sz="3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73B5935-90C5-C2FA-F475-0B66624D58EB}"/>
              </a:ext>
            </a:extLst>
          </p:cNvPr>
          <p:cNvSpPr/>
          <p:nvPr/>
        </p:nvSpPr>
        <p:spPr>
          <a:xfrm>
            <a:off x="822960" y="2806700"/>
            <a:ext cx="6562095" cy="227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Digital Platform for Centralized Alumni Data Management and Engagement</a:t>
            </a:r>
            <a:endParaRPr lang="en-US" dirty="0"/>
          </a:p>
          <a:p>
            <a:pPr marL="0" indent="0">
              <a:lnSpc>
                <a:spcPct val="1330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Connecting Students, Alumni &amp; Institution Through One Digital Platform</a:t>
            </a:r>
            <a:endParaRPr lang="en-US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125CF074-7C08-3978-2401-7022800B6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121" y="386910"/>
            <a:ext cx="4382879" cy="584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64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9533F-434A-3586-6F09-7BA34208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4803A24-ABC7-60B7-8C31-67BB1636005F}"/>
              </a:ext>
            </a:extLst>
          </p:cNvPr>
          <p:cNvSpPr/>
          <p:nvPr/>
        </p:nvSpPr>
        <p:spPr>
          <a:xfrm>
            <a:off x="822960" y="193258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0" spc="-74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AlumniConnect</a:t>
            </a:r>
            <a:endParaRPr lang="en-US" sz="3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D4E9462-CEC6-BA76-33C0-068CF669D9F5}"/>
              </a:ext>
            </a:extLst>
          </p:cNvPr>
          <p:cNvSpPr/>
          <p:nvPr/>
        </p:nvSpPr>
        <p:spPr>
          <a:xfrm>
            <a:off x="822960" y="2806700"/>
            <a:ext cx="6562095" cy="2273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b="1" dirty="0">
                <a:solidFill>
                  <a:srgbClr val="4C4C4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Digital Platform for Centralized Alumni Data Management and Engagement</a:t>
            </a:r>
            <a:endParaRPr lang="en-US" dirty="0"/>
          </a:p>
          <a:p>
            <a:pPr marL="0" indent="0">
              <a:lnSpc>
                <a:spcPct val="133000"/>
              </a:lnSpc>
              <a:buNone/>
            </a:pPr>
            <a:r>
              <a:rPr lang="en-US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Connecting Students, Alumni &amp; Institution Through One Digital Platform</a:t>
            </a:r>
            <a:endParaRPr lang="en-US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2F576F3D-7B78-0711-B91E-338AC55E8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121" y="386910"/>
            <a:ext cx="4382879" cy="5844084"/>
          </a:xfrm>
          <a:prstGeom prst="rect">
            <a:avLst/>
          </a:prstGeom>
        </p:spPr>
      </p:pic>
      <p:sp>
        <p:nvSpPr>
          <p:cNvPr id="34" name="Text 1">
            <a:extLst>
              <a:ext uri="{FF2B5EF4-FFF2-40B4-BE49-F238E27FC236}">
                <a16:creationId xmlns:a16="http://schemas.microsoft.com/office/drawing/2014/main" id="{87C068D0-C34B-73A7-4197-29894B48BD70}"/>
              </a:ext>
            </a:extLst>
          </p:cNvPr>
          <p:cNvSpPr/>
          <p:nvPr/>
        </p:nvSpPr>
        <p:spPr>
          <a:xfrm>
            <a:off x="699574" y="127943"/>
            <a:ext cx="6296860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59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The Alumni Data &amp; Engagement Gap</a:t>
            </a:r>
            <a:endParaRPr lang="en-US" sz="3200" dirty="0"/>
          </a:p>
        </p:txBody>
      </p:sp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5C069114-0B99-61C5-5B47-4AC593813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280269"/>
            <a:ext cx="6296860" cy="1079599"/>
          </a:xfrm>
          <a:prstGeom prst="rect">
            <a:avLst/>
          </a:prstGeom>
        </p:spPr>
      </p:pic>
      <p:sp>
        <p:nvSpPr>
          <p:cNvPr id="38" name="Text 2">
            <a:extLst>
              <a:ext uri="{FF2B5EF4-FFF2-40B4-BE49-F238E27FC236}">
                <a16:creationId xmlns:a16="http://schemas.microsoft.com/office/drawing/2014/main" id="{BED30464-B998-A1F1-D746-EAF496EE2E4B}"/>
              </a:ext>
            </a:extLst>
          </p:cNvPr>
          <p:cNvSpPr/>
          <p:nvPr/>
        </p:nvSpPr>
        <p:spPr>
          <a:xfrm>
            <a:off x="907333" y="1449933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No Centralized System</a:t>
            </a:r>
            <a:endParaRPr lang="en-US" sz="16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EE30944C-5772-3679-7D5F-4617AF5A6E5C}"/>
              </a:ext>
            </a:extLst>
          </p:cNvPr>
          <p:cNvSpPr/>
          <p:nvPr/>
        </p:nvSpPr>
        <p:spPr>
          <a:xfrm>
            <a:off x="907333" y="1757213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Alumni data scattered across spreadsheets, emails, and personal devices with no single source of truth.</a:t>
            </a:r>
            <a:endParaRPr lang="en-US" sz="1200" dirty="0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EF02B962-E709-47AC-26F4-4159F608D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79823"/>
            <a:ext cx="6296860" cy="1079599"/>
          </a:xfrm>
          <a:prstGeom prst="rect">
            <a:avLst/>
          </a:prstGeom>
        </p:spPr>
      </p:pic>
      <p:sp>
        <p:nvSpPr>
          <p:cNvPr id="44" name="Text 4">
            <a:extLst>
              <a:ext uri="{FF2B5EF4-FFF2-40B4-BE49-F238E27FC236}">
                <a16:creationId xmlns:a16="http://schemas.microsoft.com/office/drawing/2014/main" id="{5D7C77A8-DD5A-AC48-7D09-148E290AFF37}"/>
              </a:ext>
            </a:extLst>
          </p:cNvPr>
          <p:cNvSpPr/>
          <p:nvPr/>
        </p:nvSpPr>
        <p:spPr>
          <a:xfrm>
            <a:off x="907333" y="2649487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Poor Communication</a:t>
            </a:r>
            <a:endParaRPr lang="en-US" sz="1600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B9BF9F23-611E-2430-B4D9-F37FC066F562}"/>
              </a:ext>
            </a:extLst>
          </p:cNvPr>
          <p:cNvSpPr/>
          <p:nvPr/>
        </p:nvSpPr>
        <p:spPr>
          <a:xfrm>
            <a:off x="907333" y="2956768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Institutions rely on WhatsApp groups and outdated mailing lists to reach alumni communities.</a:t>
            </a:r>
            <a:endParaRPr lang="en-US" sz="1200" dirty="0"/>
          </a:p>
        </p:txBody>
      </p:sp>
      <p:pic>
        <p:nvPicPr>
          <p:cNvPr id="48" name="Image 3" descr="preencoded.png">
            <a:extLst>
              <a:ext uri="{FF2B5EF4-FFF2-40B4-BE49-F238E27FC236}">
                <a16:creationId xmlns:a16="http://schemas.microsoft.com/office/drawing/2014/main" id="{EA4D7877-FAA9-300A-2E10-582C4E1F3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79378"/>
            <a:ext cx="6296860" cy="1079599"/>
          </a:xfrm>
          <a:prstGeom prst="rect">
            <a:avLst/>
          </a:prstGeom>
        </p:spPr>
      </p:pic>
      <p:sp>
        <p:nvSpPr>
          <p:cNvPr id="50" name="Text 6">
            <a:extLst>
              <a:ext uri="{FF2B5EF4-FFF2-40B4-BE49-F238E27FC236}">
                <a16:creationId xmlns:a16="http://schemas.microsoft.com/office/drawing/2014/main" id="{4EF40A83-044F-64CA-5CDC-F5885F4F4CAA}"/>
              </a:ext>
            </a:extLst>
          </p:cNvPr>
          <p:cNvSpPr/>
          <p:nvPr/>
        </p:nvSpPr>
        <p:spPr>
          <a:xfrm>
            <a:off x="907333" y="3849042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Lost Connections</a:t>
            </a:r>
            <a:endParaRPr lang="en-US" sz="1600" dirty="0"/>
          </a:p>
        </p:txBody>
      </p:sp>
      <p:sp>
        <p:nvSpPr>
          <p:cNvPr id="52" name="Text 7">
            <a:extLst>
              <a:ext uri="{FF2B5EF4-FFF2-40B4-BE49-F238E27FC236}">
                <a16:creationId xmlns:a16="http://schemas.microsoft.com/office/drawing/2014/main" id="{5A28C260-CC76-672F-F3B2-C1E8334E9425}"/>
              </a:ext>
            </a:extLst>
          </p:cNvPr>
          <p:cNvSpPr/>
          <p:nvPr/>
        </p:nvSpPr>
        <p:spPr>
          <a:xfrm>
            <a:off x="907333" y="4156323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Difficult to locate alumni or maintain updated contact information as careers evolve.</a:t>
            </a:r>
            <a:endParaRPr lang="en-US" sz="1200" dirty="0"/>
          </a:p>
        </p:txBody>
      </p:sp>
      <p:pic>
        <p:nvPicPr>
          <p:cNvPr id="54" name="Image 4" descr="preencoded.png">
            <a:extLst>
              <a:ext uri="{FF2B5EF4-FFF2-40B4-BE49-F238E27FC236}">
                <a16:creationId xmlns:a16="http://schemas.microsoft.com/office/drawing/2014/main" id="{C6B1AF52-D239-8C66-B759-AB755E875E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878933"/>
            <a:ext cx="6296860" cy="1079599"/>
          </a:xfrm>
          <a:prstGeom prst="rect">
            <a:avLst/>
          </a:prstGeom>
        </p:spPr>
      </p:pic>
      <p:sp>
        <p:nvSpPr>
          <p:cNvPr id="56" name="Text 8">
            <a:extLst>
              <a:ext uri="{FF2B5EF4-FFF2-40B4-BE49-F238E27FC236}">
                <a16:creationId xmlns:a16="http://schemas.microsoft.com/office/drawing/2014/main" id="{E797616B-FAF4-C4FF-88BC-F728431B3D7B}"/>
              </a:ext>
            </a:extLst>
          </p:cNvPr>
          <p:cNvSpPr/>
          <p:nvPr/>
        </p:nvSpPr>
        <p:spPr>
          <a:xfrm>
            <a:off x="907333" y="5048597"/>
            <a:ext cx="58813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Missed Opportunities</a:t>
            </a:r>
            <a:endParaRPr lang="en-US" sz="1600" dirty="0"/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775426C7-ED2D-DD12-F4ED-BEDE82DD0F78}"/>
              </a:ext>
            </a:extLst>
          </p:cNvPr>
          <p:cNvSpPr/>
          <p:nvPr/>
        </p:nvSpPr>
        <p:spPr>
          <a:xfrm>
            <a:off x="907333" y="5355877"/>
            <a:ext cx="5881342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Student-alumni networking, mentorship, and engagement remain fragmented and unstructured.</a:t>
            </a:r>
            <a:endParaRPr lang="en-US" sz="1200" dirty="0"/>
          </a:p>
        </p:txBody>
      </p:sp>
      <p:pic>
        <p:nvPicPr>
          <p:cNvPr id="60" name="Image 0" descr="preencoded.png">
            <a:extLst>
              <a:ext uri="{FF2B5EF4-FFF2-40B4-BE49-F238E27FC236}">
                <a16:creationId xmlns:a16="http://schemas.microsoft.com/office/drawing/2014/main" id="{3A541712-73FA-F1D3-2F30-33E03B02F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595" y="307379"/>
            <a:ext cx="4421275" cy="589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46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0D31E-3C72-05D1-62D6-950A3DAE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B93F1CB5-F4AB-FFA0-E968-B6B42C25D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0F0C3C1B-21D2-3367-A29E-3F32438CD962}"/>
              </a:ext>
            </a:extLst>
          </p:cNvPr>
          <p:cNvSpPr/>
          <p:nvPr/>
        </p:nvSpPr>
        <p:spPr>
          <a:xfrm>
            <a:off x="561468" y="1671538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Purpose &amp; Scope</a:t>
            </a:r>
            <a:endParaRPr lang="en-US" sz="365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31B13EAD-EACD-FB74-B2C5-51D276A8C093}"/>
              </a:ext>
            </a:extLst>
          </p:cNvPr>
          <p:cNvSpPr/>
          <p:nvPr/>
        </p:nvSpPr>
        <p:spPr>
          <a:xfrm>
            <a:off x="561468" y="2564408"/>
            <a:ext cx="6930713" cy="262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Purpose: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Define functional and non-functional requirements governing </a:t>
            </a:r>
            <a:r>
              <a:rPr lang="en-US" sz="1600" dirty="0" err="1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AlumniConnect's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development.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Scope:</a:t>
            </a: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Two core pillars — centralized alumni data management and structured alumni engagement — extended with a professional networking layer (rich profiles, skills-based search) and a communication layer (direct messaging, community feed).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8112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890D4CF8-6AD9-FB10-57B6-58808E9C13D8}"/>
              </a:ext>
            </a:extLst>
          </p:cNvPr>
          <p:cNvSpPr/>
          <p:nvPr/>
        </p:nvSpPr>
        <p:spPr>
          <a:xfrm>
            <a:off x="719814" y="856456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Classes &amp; Characteristics</a:t>
            </a:r>
            <a:endParaRPr lang="en-US" sz="3650" dirty="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96B9D94C-B4C3-B0E2-BF36-F67C574DA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357106"/>
              </p:ext>
            </p:extLst>
          </p:nvPr>
        </p:nvGraphicFramePr>
        <p:xfrm>
          <a:off x="719814" y="1852216"/>
          <a:ext cx="10752067" cy="4123727"/>
        </p:xfrm>
        <a:graphic>
          <a:graphicData uri="http://schemas.openxmlformats.org/drawingml/2006/table">
            <a:tbl>
              <a:tblPr/>
              <a:tblGrid>
                <a:gridCol w="1935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38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1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Role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Description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Key Capabilities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Public User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Unauthenticated visitor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View landing page, register as student, claim alumni profile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Student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Currently enrolled student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Search directory, request mentorship, browse events/jobs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Alumni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Graduated user with a claimed profile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Maintain profile, mentor students, post jobs, message connections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Admin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Institutional staff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Manage records, moderate content, view analytics, publish announcements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37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EA6FD-A60A-6DD9-0F61-4D7C3FE66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5055574-A4E5-558E-8C23-4135576DBE92}"/>
              </a:ext>
            </a:extLst>
          </p:cNvPr>
          <p:cNvSpPr/>
          <p:nvPr/>
        </p:nvSpPr>
        <p:spPr>
          <a:xfrm>
            <a:off x="719814" y="892870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Non-Functional Requirements</a:t>
            </a:r>
            <a:endParaRPr lang="en-US" sz="3650" dirty="0"/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A9AAF3DC-C418-0703-EB00-C0E7E3DCF4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77423"/>
              </p:ext>
            </p:extLst>
          </p:nvPr>
        </p:nvGraphicFramePr>
        <p:xfrm>
          <a:off x="719814" y="1888629"/>
          <a:ext cx="10752067" cy="4050900"/>
        </p:xfrm>
        <a:graphic>
          <a:graphicData uri="http://schemas.openxmlformats.org/drawingml/2006/table">
            <a:tbl>
              <a:tblPr/>
              <a:tblGrid>
                <a:gridCol w="2150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1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1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Category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Requirement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Security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JWT-based stateless authentication; role-based access control; bcrypt password hashing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0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Performance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Directory search returns results within acceptable response time at institution scale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Usability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Responsive layout across desktop and mobile browsers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Availability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Backend degrades gracefully (falls back to raw data) if analytics service is unreachable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Maintainability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Three-tier architecture with clear separation of concerns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1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Scalability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Normalized relational schema designed to support growth in alumni and engagement records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612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6BE1C-A89E-B910-A3EE-B42710C3F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FC07987-22E3-282D-CFE6-8EB19F8E6AC8}"/>
              </a:ext>
            </a:extLst>
          </p:cNvPr>
          <p:cNvSpPr/>
          <p:nvPr/>
        </p:nvSpPr>
        <p:spPr>
          <a:xfrm>
            <a:off x="719814" y="575171"/>
            <a:ext cx="10752067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2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 Requirements: Engagement</a:t>
            </a:r>
            <a:endParaRPr lang="en-US" sz="32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DBC49B0F-9EED-FBAE-935C-E5059FA60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1033859"/>
            <a:ext cx="10752067" cy="694134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CD13D300-0355-F347-BA39-C82EFB388E3D}"/>
              </a:ext>
            </a:extLst>
          </p:cNvPr>
          <p:cNvSpPr/>
          <p:nvPr/>
        </p:nvSpPr>
        <p:spPr>
          <a:xfrm>
            <a:off x="877072" y="1272480"/>
            <a:ext cx="17352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8162910-DADA-0F6C-648E-C70C63323FE1}"/>
              </a:ext>
            </a:extLst>
          </p:cNvPr>
          <p:cNvSpPr/>
          <p:nvPr/>
        </p:nvSpPr>
        <p:spPr>
          <a:xfrm>
            <a:off x="1260245" y="1162248"/>
            <a:ext cx="10083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FR-8</a:t>
            </a:r>
            <a:endParaRPr lang="en-US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C80A8A5-F9A2-AD86-E003-34129FF4030B}"/>
              </a:ext>
            </a:extLst>
          </p:cNvPr>
          <p:cNvSpPr/>
          <p:nvPr/>
        </p:nvSpPr>
        <p:spPr>
          <a:xfrm>
            <a:off x="1260245" y="1365548"/>
            <a:ext cx="1008325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Searchable directory filterable by department, batch, year, company, industry, location, and skill.</a:t>
            </a:r>
            <a:endParaRPr lang="en-US" sz="16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DB570AE7-1D97-06C1-ACEB-E9816EF7C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1792982"/>
            <a:ext cx="10752067" cy="694134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8ABF5006-E8F7-58A3-2B37-95A5C32CE218}"/>
              </a:ext>
            </a:extLst>
          </p:cNvPr>
          <p:cNvSpPr/>
          <p:nvPr/>
        </p:nvSpPr>
        <p:spPr>
          <a:xfrm>
            <a:off x="877072" y="2031603"/>
            <a:ext cx="17352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433CFFA4-59CE-C3A6-B378-C11FBD6A1C2B}"/>
              </a:ext>
            </a:extLst>
          </p:cNvPr>
          <p:cNvSpPr/>
          <p:nvPr/>
        </p:nvSpPr>
        <p:spPr>
          <a:xfrm>
            <a:off x="1260245" y="1921371"/>
            <a:ext cx="10083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FR-9</a:t>
            </a:r>
            <a:endParaRPr lang="en-US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9B31CE47-E833-9610-E3FC-CDCA8043B751}"/>
              </a:ext>
            </a:extLst>
          </p:cNvPr>
          <p:cNvSpPr/>
          <p:nvPr/>
        </p:nvSpPr>
        <p:spPr>
          <a:xfrm>
            <a:off x="1260245" y="2124670"/>
            <a:ext cx="1008325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Students shall send mentorship requests to alumni open to mentoring.</a:t>
            </a:r>
            <a:endParaRPr lang="en-US" sz="1600" dirty="0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CD11426A-7553-0C5B-77F8-4D7E4C2F8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2552105"/>
            <a:ext cx="10752067" cy="694134"/>
          </a:xfrm>
          <a:prstGeom prst="rect">
            <a:avLst/>
          </a:prstGeom>
        </p:spPr>
      </p:pic>
      <p:sp>
        <p:nvSpPr>
          <p:cNvPr id="23" name="Text 7">
            <a:extLst>
              <a:ext uri="{FF2B5EF4-FFF2-40B4-BE49-F238E27FC236}">
                <a16:creationId xmlns:a16="http://schemas.microsoft.com/office/drawing/2014/main" id="{1B970D4B-F429-56C1-0D47-93CE6545C0B7}"/>
              </a:ext>
            </a:extLst>
          </p:cNvPr>
          <p:cNvSpPr/>
          <p:nvPr/>
        </p:nvSpPr>
        <p:spPr>
          <a:xfrm>
            <a:off x="877072" y="2790726"/>
            <a:ext cx="17352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7D8AE0FE-9597-B06D-CF38-FCB17836DFA2}"/>
              </a:ext>
            </a:extLst>
          </p:cNvPr>
          <p:cNvSpPr/>
          <p:nvPr/>
        </p:nvSpPr>
        <p:spPr>
          <a:xfrm>
            <a:off x="1260245" y="2680494"/>
            <a:ext cx="10083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FR-10</a:t>
            </a:r>
            <a:endParaRPr lang="en-US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E7546F6-6BD5-4E95-4A94-94222BA7FC78}"/>
              </a:ext>
            </a:extLst>
          </p:cNvPr>
          <p:cNvSpPr/>
          <p:nvPr/>
        </p:nvSpPr>
        <p:spPr>
          <a:xfrm>
            <a:off x="1260245" y="2883793"/>
            <a:ext cx="1008325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Alumni shall accept, reject, or mark mentorship requests complete.</a:t>
            </a:r>
            <a:endParaRPr lang="en-US" sz="1600" dirty="0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77FEE434-B2C4-59C9-A007-9C65A08710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3311227"/>
            <a:ext cx="10752067" cy="694134"/>
          </a:xfrm>
          <a:prstGeom prst="rect">
            <a:avLst/>
          </a:prstGeom>
        </p:spPr>
      </p:pic>
      <p:sp>
        <p:nvSpPr>
          <p:cNvPr id="31" name="Text 10">
            <a:extLst>
              <a:ext uri="{FF2B5EF4-FFF2-40B4-BE49-F238E27FC236}">
                <a16:creationId xmlns:a16="http://schemas.microsoft.com/office/drawing/2014/main" id="{468FFDB0-6F31-8A91-D360-7A7EE62902D7}"/>
              </a:ext>
            </a:extLst>
          </p:cNvPr>
          <p:cNvSpPr/>
          <p:nvPr/>
        </p:nvSpPr>
        <p:spPr>
          <a:xfrm>
            <a:off x="877072" y="3549848"/>
            <a:ext cx="17352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480A942-DB6F-2CC9-7C80-6C9712D4B323}"/>
              </a:ext>
            </a:extLst>
          </p:cNvPr>
          <p:cNvSpPr/>
          <p:nvPr/>
        </p:nvSpPr>
        <p:spPr>
          <a:xfrm>
            <a:off x="1260245" y="3439616"/>
            <a:ext cx="10083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FR-11</a:t>
            </a:r>
            <a:endParaRPr lang="en-US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D18A6A63-A1A2-4889-DDAD-C6B099F6B993}"/>
              </a:ext>
            </a:extLst>
          </p:cNvPr>
          <p:cNvSpPr/>
          <p:nvPr/>
        </p:nvSpPr>
        <p:spPr>
          <a:xfrm>
            <a:off x="1260245" y="3642916"/>
            <a:ext cx="1008325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Admins shall create, publish, and cancel events with defined capacity.</a:t>
            </a:r>
            <a:endParaRPr lang="en-US" sz="1600" dirty="0"/>
          </a:p>
        </p:txBody>
      </p:sp>
      <p:pic>
        <p:nvPicPr>
          <p:cNvPr id="37" name="Image 4" descr="preencoded.png">
            <a:extLst>
              <a:ext uri="{FF2B5EF4-FFF2-40B4-BE49-F238E27FC236}">
                <a16:creationId xmlns:a16="http://schemas.microsoft.com/office/drawing/2014/main" id="{AC1C1597-B1C5-A41E-C79A-DFA790D3B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4070350"/>
            <a:ext cx="10752067" cy="694134"/>
          </a:xfrm>
          <a:prstGeom prst="rect">
            <a:avLst/>
          </a:prstGeom>
        </p:spPr>
      </p:pic>
      <p:sp>
        <p:nvSpPr>
          <p:cNvPr id="39" name="Text 13">
            <a:extLst>
              <a:ext uri="{FF2B5EF4-FFF2-40B4-BE49-F238E27FC236}">
                <a16:creationId xmlns:a16="http://schemas.microsoft.com/office/drawing/2014/main" id="{488E3127-27B6-94AB-6401-C665ABF5F0F9}"/>
              </a:ext>
            </a:extLst>
          </p:cNvPr>
          <p:cNvSpPr/>
          <p:nvPr/>
        </p:nvSpPr>
        <p:spPr>
          <a:xfrm>
            <a:off x="877072" y="4308971"/>
            <a:ext cx="17352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5</a:t>
            </a:r>
            <a:endParaRPr lang="en-US" sz="28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5C637BA8-2295-C383-A498-A28666D6580C}"/>
              </a:ext>
            </a:extLst>
          </p:cNvPr>
          <p:cNvSpPr/>
          <p:nvPr/>
        </p:nvSpPr>
        <p:spPr>
          <a:xfrm>
            <a:off x="1260245" y="4198739"/>
            <a:ext cx="10083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FR-12</a:t>
            </a:r>
            <a:endParaRPr lang="en-US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BA329BE1-F4F2-ADDD-D809-137721444B31}"/>
              </a:ext>
            </a:extLst>
          </p:cNvPr>
          <p:cNvSpPr/>
          <p:nvPr/>
        </p:nvSpPr>
        <p:spPr>
          <a:xfrm>
            <a:off x="1260245" y="4402038"/>
            <a:ext cx="1008325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Users shall register for and cancel event registration, enforcing capacity limits.</a:t>
            </a:r>
            <a:endParaRPr lang="en-US" sz="1600" dirty="0"/>
          </a:p>
        </p:txBody>
      </p:sp>
      <p:pic>
        <p:nvPicPr>
          <p:cNvPr id="45" name="Image 5" descr="preencoded.png">
            <a:extLst>
              <a:ext uri="{FF2B5EF4-FFF2-40B4-BE49-F238E27FC236}">
                <a16:creationId xmlns:a16="http://schemas.microsoft.com/office/drawing/2014/main" id="{EAF9C8BA-189B-F66B-382A-98A7C58E2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4829473"/>
            <a:ext cx="10752067" cy="694134"/>
          </a:xfrm>
          <a:prstGeom prst="rect">
            <a:avLst/>
          </a:prstGeom>
        </p:spPr>
      </p:pic>
      <p:sp>
        <p:nvSpPr>
          <p:cNvPr id="47" name="Text 16">
            <a:extLst>
              <a:ext uri="{FF2B5EF4-FFF2-40B4-BE49-F238E27FC236}">
                <a16:creationId xmlns:a16="http://schemas.microsoft.com/office/drawing/2014/main" id="{F72B0B40-3BEC-C442-CE76-A9044D108014}"/>
              </a:ext>
            </a:extLst>
          </p:cNvPr>
          <p:cNvSpPr/>
          <p:nvPr/>
        </p:nvSpPr>
        <p:spPr>
          <a:xfrm>
            <a:off x="877072" y="5068094"/>
            <a:ext cx="17352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6</a:t>
            </a:r>
            <a:endParaRPr lang="en-US" sz="280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78FD6886-FBEB-F3A9-3CB3-67F38F26EE28}"/>
              </a:ext>
            </a:extLst>
          </p:cNvPr>
          <p:cNvSpPr/>
          <p:nvPr/>
        </p:nvSpPr>
        <p:spPr>
          <a:xfrm>
            <a:off x="1260245" y="4957862"/>
            <a:ext cx="10083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FR-13</a:t>
            </a:r>
            <a:endParaRPr lang="en-US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52A567CA-ED00-74BD-2565-9C96D908E0AE}"/>
              </a:ext>
            </a:extLst>
          </p:cNvPr>
          <p:cNvSpPr/>
          <p:nvPr/>
        </p:nvSpPr>
        <p:spPr>
          <a:xfrm>
            <a:off x="1260245" y="5161161"/>
            <a:ext cx="1008325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Alumni shall post job opportunities, subject to admin moderation.</a:t>
            </a:r>
            <a:endParaRPr lang="en-US" sz="1600" dirty="0"/>
          </a:p>
        </p:txBody>
      </p:sp>
      <p:pic>
        <p:nvPicPr>
          <p:cNvPr id="53" name="Image 6" descr="preencoded.png">
            <a:extLst>
              <a:ext uri="{FF2B5EF4-FFF2-40B4-BE49-F238E27FC236}">
                <a16:creationId xmlns:a16="http://schemas.microsoft.com/office/drawing/2014/main" id="{0D96C5D9-E2E3-BE59-598A-93B85E468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5588595"/>
            <a:ext cx="10752067" cy="694134"/>
          </a:xfrm>
          <a:prstGeom prst="rect">
            <a:avLst/>
          </a:prstGeom>
        </p:spPr>
      </p:pic>
      <p:sp>
        <p:nvSpPr>
          <p:cNvPr id="55" name="Text 19">
            <a:extLst>
              <a:ext uri="{FF2B5EF4-FFF2-40B4-BE49-F238E27FC236}">
                <a16:creationId xmlns:a16="http://schemas.microsoft.com/office/drawing/2014/main" id="{270A1675-DCE2-0652-2AF2-16F0CADFAA70}"/>
              </a:ext>
            </a:extLst>
          </p:cNvPr>
          <p:cNvSpPr/>
          <p:nvPr/>
        </p:nvSpPr>
        <p:spPr>
          <a:xfrm>
            <a:off x="877072" y="5827216"/>
            <a:ext cx="17352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80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8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12AFCE01-2BD5-0E34-9188-A8EB7C644405}"/>
              </a:ext>
            </a:extLst>
          </p:cNvPr>
          <p:cNvSpPr/>
          <p:nvPr/>
        </p:nvSpPr>
        <p:spPr>
          <a:xfrm>
            <a:off x="1260245" y="5716984"/>
            <a:ext cx="100832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FR-14</a:t>
            </a:r>
            <a:endParaRPr lang="en-US" dirty="0"/>
          </a:p>
        </p:txBody>
      </p:sp>
      <p:sp>
        <p:nvSpPr>
          <p:cNvPr id="59" name="Text 21">
            <a:extLst>
              <a:ext uri="{FF2B5EF4-FFF2-40B4-BE49-F238E27FC236}">
                <a16:creationId xmlns:a16="http://schemas.microsoft.com/office/drawing/2014/main" id="{825F9C7A-174C-F72C-A7D8-7A33454E151D}"/>
              </a:ext>
            </a:extLst>
          </p:cNvPr>
          <p:cNvSpPr/>
          <p:nvPr/>
        </p:nvSpPr>
        <p:spPr>
          <a:xfrm>
            <a:off x="1260245" y="5920284"/>
            <a:ext cx="10083250" cy="135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Admins shall publish announcements targeted by audience (all, students, alumni, department, or batch).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162597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7ED8-BB69-3FCD-0AB1-05AA5BCBB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3B3F63B-3B43-0197-FF57-5BECAC229CBF}"/>
              </a:ext>
            </a:extLst>
          </p:cNvPr>
          <p:cNvSpPr/>
          <p:nvPr/>
        </p:nvSpPr>
        <p:spPr>
          <a:xfrm>
            <a:off x="343894" y="94372"/>
            <a:ext cx="17560651" cy="36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2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Functional Requirements: Data Management</a:t>
            </a:r>
            <a:endParaRPr lang="en-US" sz="360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B611486-5A7A-2EF9-3AA1-EFABC98045BF}"/>
              </a:ext>
            </a:extLst>
          </p:cNvPr>
          <p:cNvGrpSpPr/>
          <p:nvPr/>
        </p:nvGrpSpPr>
        <p:grpSpPr>
          <a:xfrm>
            <a:off x="343894" y="773762"/>
            <a:ext cx="10980573" cy="5819440"/>
            <a:chOff x="719814" y="1038560"/>
            <a:chExt cx="10752067" cy="5244169"/>
          </a:xfrm>
        </p:grpSpPr>
        <p:pic>
          <p:nvPicPr>
            <p:cNvPr id="5" name="Image 0" descr="preencoded.png">
              <a:extLst>
                <a:ext uri="{FF2B5EF4-FFF2-40B4-BE49-F238E27FC236}">
                  <a16:creationId xmlns:a16="http://schemas.microsoft.com/office/drawing/2014/main" id="{BAEE23B6-9178-FD05-B588-744F3C6808B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9814" y="1038560"/>
              <a:ext cx="10752067" cy="694134"/>
            </a:xfrm>
            <a:prstGeom prst="rect">
              <a:avLst/>
            </a:prstGeom>
          </p:spPr>
        </p:pic>
        <p:sp>
          <p:nvSpPr>
            <p:cNvPr id="7" name="Text 1">
              <a:extLst>
                <a:ext uri="{FF2B5EF4-FFF2-40B4-BE49-F238E27FC236}">
                  <a16:creationId xmlns:a16="http://schemas.microsoft.com/office/drawing/2014/main" id="{3444F951-6B86-DCAB-E133-6D30ABFE64D3}"/>
                </a:ext>
              </a:extLst>
            </p:cNvPr>
            <p:cNvSpPr/>
            <p:nvPr/>
          </p:nvSpPr>
          <p:spPr>
            <a:xfrm>
              <a:off x="877072" y="1272480"/>
              <a:ext cx="173529" cy="2168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kern="0" spc="-14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1</a:t>
              </a:r>
              <a:endParaRPr lang="en-US" sz="2000" dirty="0"/>
            </a:p>
          </p:txBody>
        </p:sp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14717751-0D6B-1F2F-9AF4-0444F90E6F2D}"/>
                </a:ext>
              </a:extLst>
            </p:cNvPr>
            <p:cNvSpPr/>
            <p:nvPr/>
          </p:nvSpPr>
          <p:spPr>
            <a:xfrm>
              <a:off x="1260245" y="1162248"/>
              <a:ext cx="10083250" cy="1643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kern="0" spc="-10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FR-1</a:t>
              </a:r>
              <a:endParaRPr lang="en-US" sz="1400" dirty="0"/>
            </a:p>
          </p:txBody>
        </p:sp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98D3AEDF-E477-DCFE-F0AC-62FE46C82861}"/>
                </a:ext>
              </a:extLst>
            </p:cNvPr>
            <p:cNvSpPr/>
            <p:nvPr/>
          </p:nvSpPr>
          <p:spPr>
            <a:xfrm>
              <a:off x="1260244" y="1365548"/>
              <a:ext cx="10083251" cy="135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Admins shall manually add individual alumni records.</a:t>
              </a:r>
              <a:endParaRPr lang="en-US" sz="2000" dirty="0"/>
            </a:p>
          </p:txBody>
        </p:sp>
        <p:pic>
          <p:nvPicPr>
            <p:cNvPr id="13" name="Image 1" descr="preencoded.png">
              <a:extLst>
                <a:ext uri="{FF2B5EF4-FFF2-40B4-BE49-F238E27FC236}">
                  <a16:creationId xmlns:a16="http://schemas.microsoft.com/office/drawing/2014/main" id="{11A0B23C-8284-846D-322D-3FDD22BD03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9814" y="1792982"/>
              <a:ext cx="10752067" cy="694134"/>
            </a:xfrm>
            <a:prstGeom prst="rect">
              <a:avLst/>
            </a:prstGeom>
          </p:spPr>
        </p:pic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DF53EFFD-EE5C-5814-6C99-DF720AEFE38B}"/>
                </a:ext>
              </a:extLst>
            </p:cNvPr>
            <p:cNvSpPr/>
            <p:nvPr/>
          </p:nvSpPr>
          <p:spPr>
            <a:xfrm>
              <a:off x="877072" y="2031603"/>
              <a:ext cx="173529" cy="2168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kern="0" spc="-14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2</a:t>
              </a:r>
              <a:endParaRPr lang="en-US" sz="2000" dirty="0"/>
            </a:p>
          </p:txBody>
        </p:sp>
        <p:sp>
          <p:nvSpPr>
            <p:cNvPr id="17" name="Text 5">
              <a:extLst>
                <a:ext uri="{FF2B5EF4-FFF2-40B4-BE49-F238E27FC236}">
                  <a16:creationId xmlns:a16="http://schemas.microsoft.com/office/drawing/2014/main" id="{324060F4-596E-FF26-0CB3-E23CE22E0414}"/>
                </a:ext>
              </a:extLst>
            </p:cNvPr>
            <p:cNvSpPr/>
            <p:nvPr/>
          </p:nvSpPr>
          <p:spPr>
            <a:xfrm>
              <a:off x="1260245" y="1921371"/>
              <a:ext cx="10083250" cy="1643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kern="0" spc="-10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FR-2</a:t>
              </a:r>
              <a:endParaRPr lang="en-US" sz="1400" dirty="0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76F001E7-C0DC-80C1-A3D3-4A29D515A0B5}"/>
                </a:ext>
              </a:extLst>
            </p:cNvPr>
            <p:cNvSpPr/>
            <p:nvPr/>
          </p:nvSpPr>
          <p:spPr>
            <a:xfrm>
              <a:off x="1260245" y="2124670"/>
              <a:ext cx="10083250" cy="135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2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Admins shall bulk-import via CSV/Excel with column mapping, validation, and duplicate detection.</a:t>
              </a:r>
              <a:endParaRPr lang="en-US" sz="1200" dirty="0"/>
            </a:p>
          </p:txBody>
        </p:sp>
        <p:pic>
          <p:nvPicPr>
            <p:cNvPr id="21" name="Image 2" descr="preencoded.png">
              <a:extLst>
                <a:ext uri="{FF2B5EF4-FFF2-40B4-BE49-F238E27FC236}">
                  <a16:creationId xmlns:a16="http://schemas.microsoft.com/office/drawing/2014/main" id="{1A13EE18-DE15-CF18-D373-2AAA45DB89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9814" y="2552105"/>
              <a:ext cx="10752067" cy="694134"/>
            </a:xfrm>
            <a:prstGeom prst="rect">
              <a:avLst/>
            </a:prstGeom>
          </p:spPr>
        </p:pic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2903AE05-3D8E-B2A6-CAA2-7957CBDA739F}"/>
                </a:ext>
              </a:extLst>
            </p:cNvPr>
            <p:cNvSpPr/>
            <p:nvPr/>
          </p:nvSpPr>
          <p:spPr>
            <a:xfrm>
              <a:off x="877072" y="2790726"/>
              <a:ext cx="173529" cy="2168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kern="0" spc="-14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3</a:t>
              </a:r>
              <a:endParaRPr lang="en-US" sz="2000" dirty="0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D1B10D0B-8E2C-F4B3-88B4-8A50FA063075}"/>
                </a:ext>
              </a:extLst>
            </p:cNvPr>
            <p:cNvSpPr/>
            <p:nvPr/>
          </p:nvSpPr>
          <p:spPr>
            <a:xfrm>
              <a:off x="1260245" y="2680494"/>
              <a:ext cx="10083250" cy="1643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kern="0" spc="-10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FR-3</a:t>
              </a:r>
              <a:endParaRPr lang="en-US" sz="1400" dirty="0"/>
            </a:p>
          </p:txBody>
        </p:sp>
        <p:sp>
          <p:nvSpPr>
            <p:cNvPr id="27" name="Text 9">
              <a:extLst>
                <a:ext uri="{FF2B5EF4-FFF2-40B4-BE49-F238E27FC236}">
                  <a16:creationId xmlns:a16="http://schemas.microsoft.com/office/drawing/2014/main" id="{7F5F8FC2-B43F-16C9-4D0A-E0EFBEA577A0}"/>
                </a:ext>
              </a:extLst>
            </p:cNvPr>
            <p:cNvSpPr/>
            <p:nvPr/>
          </p:nvSpPr>
          <p:spPr>
            <a:xfrm>
              <a:off x="1260245" y="2883793"/>
              <a:ext cx="10083250" cy="135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2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Alumni shall claim existing records by verifying enrollment number, email, and graduation year.</a:t>
              </a:r>
              <a:endParaRPr lang="en-US" sz="1200" dirty="0"/>
            </a:p>
          </p:txBody>
        </p:sp>
        <p:pic>
          <p:nvPicPr>
            <p:cNvPr id="29" name="Image 3" descr="preencoded.png">
              <a:extLst>
                <a:ext uri="{FF2B5EF4-FFF2-40B4-BE49-F238E27FC236}">
                  <a16:creationId xmlns:a16="http://schemas.microsoft.com/office/drawing/2014/main" id="{831F3374-88AF-FA93-CF4B-A28C0BF2B2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9814" y="3311227"/>
              <a:ext cx="10752067" cy="694134"/>
            </a:xfrm>
            <a:prstGeom prst="rect">
              <a:avLst/>
            </a:prstGeom>
          </p:spPr>
        </p:pic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756F5DFA-CFC2-3F96-5CE7-9933D562D4DF}"/>
                </a:ext>
              </a:extLst>
            </p:cNvPr>
            <p:cNvSpPr/>
            <p:nvPr/>
          </p:nvSpPr>
          <p:spPr>
            <a:xfrm>
              <a:off x="877072" y="3549848"/>
              <a:ext cx="173529" cy="2168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kern="0" spc="-14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4</a:t>
              </a:r>
              <a:endParaRPr lang="en-US" sz="2000" dirty="0"/>
            </a:p>
          </p:txBody>
        </p:sp>
        <p:sp>
          <p:nvSpPr>
            <p:cNvPr id="33" name="Text 11">
              <a:extLst>
                <a:ext uri="{FF2B5EF4-FFF2-40B4-BE49-F238E27FC236}">
                  <a16:creationId xmlns:a16="http://schemas.microsoft.com/office/drawing/2014/main" id="{62B14370-56D1-0873-AC1E-8E2BD82984A3}"/>
                </a:ext>
              </a:extLst>
            </p:cNvPr>
            <p:cNvSpPr/>
            <p:nvPr/>
          </p:nvSpPr>
          <p:spPr>
            <a:xfrm>
              <a:off x="1260245" y="3439616"/>
              <a:ext cx="10083250" cy="1643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kern="0" spc="-10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FR-4</a:t>
              </a:r>
              <a:endParaRPr lang="en-US" sz="1400" dirty="0"/>
            </a:p>
          </p:txBody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3B178F8E-F145-9358-8B4C-ECEBFC8A6D2A}"/>
                </a:ext>
              </a:extLst>
            </p:cNvPr>
            <p:cNvSpPr/>
            <p:nvPr/>
          </p:nvSpPr>
          <p:spPr>
            <a:xfrm>
              <a:off x="1260245" y="3642916"/>
              <a:ext cx="10083250" cy="135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2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The system shall prevent duplicate alumni record creation during the claim process.</a:t>
              </a:r>
              <a:endParaRPr lang="en-US" sz="1200" dirty="0"/>
            </a:p>
          </p:txBody>
        </p:sp>
        <p:pic>
          <p:nvPicPr>
            <p:cNvPr id="37" name="Image 4" descr="preencoded.png">
              <a:extLst>
                <a:ext uri="{FF2B5EF4-FFF2-40B4-BE49-F238E27FC236}">
                  <a16:creationId xmlns:a16="http://schemas.microsoft.com/office/drawing/2014/main" id="{7503AFB8-EE47-B961-404B-3D4D0417D3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9814" y="4070350"/>
              <a:ext cx="10752067" cy="694134"/>
            </a:xfrm>
            <a:prstGeom prst="rect">
              <a:avLst/>
            </a:prstGeom>
          </p:spPr>
        </p:pic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292998A2-4AF2-549E-FF02-8C82D8B7DFF5}"/>
                </a:ext>
              </a:extLst>
            </p:cNvPr>
            <p:cNvSpPr/>
            <p:nvPr/>
          </p:nvSpPr>
          <p:spPr>
            <a:xfrm>
              <a:off x="877072" y="4308971"/>
              <a:ext cx="173529" cy="2168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kern="0" spc="-14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5</a:t>
              </a:r>
              <a:endParaRPr lang="en-US" sz="2000" dirty="0"/>
            </a:p>
          </p:txBody>
        </p:sp>
        <p:sp>
          <p:nvSpPr>
            <p:cNvPr id="41" name="Text 14">
              <a:extLst>
                <a:ext uri="{FF2B5EF4-FFF2-40B4-BE49-F238E27FC236}">
                  <a16:creationId xmlns:a16="http://schemas.microsoft.com/office/drawing/2014/main" id="{9AC56652-41B5-01F2-BD28-B0A1F77FAAB6}"/>
                </a:ext>
              </a:extLst>
            </p:cNvPr>
            <p:cNvSpPr/>
            <p:nvPr/>
          </p:nvSpPr>
          <p:spPr>
            <a:xfrm>
              <a:off x="1260245" y="4198739"/>
              <a:ext cx="10083250" cy="1643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kern="0" spc="-10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FR-5</a:t>
              </a:r>
              <a:endParaRPr lang="en-US" sz="1400" dirty="0"/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4113A95E-A768-8B98-2AA0-D76ABCB10E04}"/>
                </a:ext>
              </a:extLst>
            </p:cNvPr>
            <p:cNvSpPr/>
            <p:nvPr/>
          </p:nvSpPr>
          <p:spPr>
            <a:xfrm>
              <a:off x="1260245" y="4402038"/>
              <a:ext cx="10083250" cy="135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2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The system shall distinguish institution-controlled fields from alumni-controlled fields and enforce write permissions accordingly.</a:t>
              </a:r>
              <a:endParaRPr lang="en-US" sz="1200" dirty="0"/>
            </a:p>
          </p:txBody>
        </p:sp>
        <p:pic>
          <p:nvPicPr>
            <p:cNvPr id="45" name="Image 5" descr="preencoded.png">
              <a:extLst>
                <a:ext uri="{FF2B5EF4-FFF2-40B4-BE49-F238E27FC236}">
                  <a16:creationId xmlns:a16="http://schemas.microsoft.com/office/drawing/2014/main" id="{318531E9-9069-4F14-D2B2-D43C8DA83C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9814" y="4829473"/>
              <a:ext cx="10752067" cy="694134"/>
            </a:xfrm>
            <a:prstGeom prst="rect">
              <a:avLst/>
            </a:prstGeom>
          </p:spPr>
        </p:pic>
        <p:sp>
          <p:nvSpPr>
            <p:cNvPr id="47" name="Text 16">
              <a:extLst>
                <a:ext uri="{FF2B5EF4-FFF2-40B4-BE49-F238E27FC236}">
                  <a16:creationId xmlns:a16="http://schemas.microsoft.com/office/drawing/2014/main" id="{1D83C706-20B0-9628-FB46-417134BFCE1D}"/>
                </a:ext>
              </a:extLst>
            </p:cNvPr>
            <p:cNvSpPr/>
            <p:nvPr/>
          </p:nvSpPr>
          <p:spPr>
            <a:xfrm>
              <a:off x="877072" y="5068094"/>
              <a:ext cx="173529" cy="2168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kern="0" spc="-14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6</a:t>
              </a:r>
              <a:endParaRPr lang="en-US" sz="20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A247F573-014A-4A75-B4B9-3AB19AA469FF}"/>
                </a:ext>
              </a:extLst>
            </p:cNvPr>
            <p:cNvSpPr/>
            <p:nvPr/>
          </p:nvSpPr>
          <p:spPr>
            <a:xfrm>
              <a:off x="1260245" y="4957862"/>
              <a:ext cx="10083250" cy="1643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kern="0" spc="-10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FR-6</a:t>
              </a:r>
              <a:endParaRPr lang="en-US" sz="1400" dirty="0"/>
            </a:p>
          </p:txBody>
        </p:sp>
        <p:sp>
          <p:nvSpPr>
            <p:cNvPr id="51" name="Text 18">
              <a:extLst>
                <a:ext uri="{FF2B5EF4-FFF2-40B4-BE49-F238E27FC236}">
                  <a16:creationId xmlns:a16="http://schemas.microsoft.com/office/drawing/2014/main" id="{20425E44-F484-A092-62C9-9AA1B6E86160}"/>
                </a:ext>
              </a:extLst>
            </p:cNvPr>
            <p:cNvSpPr/>
            <p:nvPr/>
          </p:nvSpPr>
          <p:spPr>
            <a:xfrm>
              <a:off x="1260245" y="5161161"/>
              <a:ext cx="10083250" cy="135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2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The system shall organize departments under their parent institute (e.g., Engineering, Management, Science).</a:t>
              </a:r>
              <a:endParaRPr lang="en-US" sz="1200" dirty="0"/>
            </a:p>
          </p:txBody>
        </p:sp>
        <p:pic>
          <p:nvPicPr>
            <p:cNvPr id="53" name="Image 6" descr="preencoded.png">
              <a:extLst>
                <a:ext uri="{FF2B5EF4-FFF2-40B4-BE49-F238E27FC236}">
                  <a16:creationId xmlns:a16="http://schemas.microsoft.com/office/drawing/2014/main" id="{B845A293-B04A-134F-819B-AB60F26E3A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19814" y="5588595"/>
              <a:ext cx="10752067" cy="694134"/>
            </a:xfrm>
            <a:prstGeom prst="rect">
              <a:avLst/>
            </a:prstGeom>
          </p:spPr>
        </p:pic>
        <p:sp>
          <p:nvSpPr>
            <p:cNvPr id="55" name="Text 19">
              <a:extLst>
                <a:ext uri="{FF2B5EF4-FFF2-40B4-BE49-F238E27FC236}">
                  <a16:creationId xmlns:a16="http://schemas.microsoft.com/office/drawing/2014/main" id="{781D55A4-8A76-548B-2FE2-5EC923AEBE37}"/>
                </a:ext>
              </a:extLst>
            </p:cNvPr>
            <p:cNvSpPr/>
            <p:nvPr/>
          </p:nvSpPr>
          <p:spPr>
            <a:xfrm>
              <a:off x="877072" y="5827216"/>
              <a:ext cx="173529" cy="21689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2000" b="1" kern="0" spc="-14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7</a:t>
              </a:r>
              <a:endParaRPr lang="en-US" sz="2000" dirty="0"/>
            </a:p>
          </p:txBody>
        </p:sp>
        <p:sp>
          <p:nvSpPr>
            <p:cNvPr id="57" name="Text 20">
              <a:extLst>
                <a:ext uri="{FF2B5EF4-FFF2-40B4-BE49-F238E27FC236}">
                  <a16:creationId xmlns:a16="http://schemas.microsoft.com/office/drawing/2014/main" id="{1A7507DD-B326-8D91-BF28-3F5D3BF2B5BF}"/>
                </a:ext>
              </a:extLst>
            </p:cNvPr>
            <p:cNvSpPr/>
            <p:nvPr/>
          </p:nvSpPr>
          <p:spPr>
            <a:xfrm>
              <a:off x="1260245" y="5716984"/>
              <a:ext cx="10083250" cy="1643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00" b="1" kern="0" spc="-10" dirty="0">
                  <a:solidFill>
                    <a:srgbClr val="3D3838"/>
                  </a:solidFill>
                  <a:latin typeface="Montserrat Bold" pitchFamily="34" charset="0"/>
                  <a:ea typeface="Montserrat Bold" pitchFamily="34" charset="-122"/>
                  <a:cs typeface="Montserrat Bold" pitchFamily="34" charset="-120"/>
                </a:rPr>
                <a:t>FR-7</a:t>
              </a:r>
              <a:endParaRPr lang="en-US" sz="1400" dirty="0"/>
            </a:p>
          </p:txBody>
        </p:sp>
        <p:sp>
          <p:nvSpPr>
            <p:cNvPr id="59" name="Text 21">
              <a:extLst>
                <a:ext uri="{FF2B5EF4-FFF2-40B4-BE49-F238E27FC236}">
                  <a16:creationId xmlns:a16="http://schemas.microsoft.com/office/drawing/2014/main" id="{B5C813F5-114E-9707-CB58-8D91BC6BBD0B}"/>
                </a:ext>
              </a:extLst>
            </p:cNvPr>
            <p:cNvSpPr/>
            <p:nvPr/>
          </p:nvSpPr>
          <p:spPr>
            <a:xfrm>
              <a:off x="1260245" y="5920284"/>
              <a:ext cx="10083250" cy="135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8000"/>
                </a:lnSpc>
                <a:buNone/>
              </a:pPr>
              <a:r>
                <a:rPr lang="en-US" sz="1200" dirty="0">
                  <a:solidFill>
                    <a:srgbClr val="3D3838"/>
                  </a:solidFill>
                  <a:latin typeface="Source Sans 3" pitchFamily="34" charset="0"/>
                  <a:ea typeface="Source Sans 3" pitchFamily="34" charset="-122"/>
                  <a:cs typeface="Source Sans 3" pitchFamily="34" charset="-120"/>
                </a:rPr>
                <a:t>The system shall support per-field visibility (Public / Alumni-only / Private) for alumni email and phone number.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571163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8D4CA-7237-8537-D714-B6C7C16D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A0D2D541-D496-396B-4293-799992D7BE72}"/>
              </a:ext>
            </a:extLst>
          </p:cNvPr>
          <p:cNvSpPr/>
          <p:nvPr/>
        </p:nvSpPr>
        <p:spPr>
          <a:xfrm>
            <a:off x="719814" y="1455241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Requirement Prioritization — MoSCoW</a:t>
            </a:r>
            <a:endParaRPr lang="en-US" sz="3650" dirty="0"/>
          </a:p>
        </p:txBody>
      </p:sp>
      <p:graphicFrame>
        <p:nvGraphicFramePr>
          <p:cNvPr id="16" name="Table 0">
            <a:extLst>
              <a:ext uri="{FF2B5EF4-FFF2-40B4-BE49-F238E27FC236}">
                <a16:creationId xmlns:a16="http://schemas.microsoft.com/office/drawing/2014/main" id="{B30FC6AC-BA78-3EB8-99DA-330B10DE6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253739"/>
              </p:ext>
            </p:extLst>
          </p:nvPr>
        </p:nvGraphicFramePr>
        <p:xfrm>
          <a:off x="719814" y="2451001"/>
          <a:ext cx="10752067" cy="2926285"/>
        </p:xfrm>
        <a:graphic>
          <a:graphicData uri="http://schemas.openxmlformats.org/drawingml/2006/table">
            <a:tbl>
              <a:tblPr/>
              <a:tblGrid>
                <a:gridCol w="268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26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Must Have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Authentication, alumni directory, CSV import &amp; claim workflow, admin record management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5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Should Have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Mentorship, events, jobs, announcements, notifications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Could Have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Direct messaging, community feed, extended profile (education/projects/certifications), Google OAuth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16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Won't Have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Donation/</a:t>
                      </a:r>
                      <a:r>
                        <a:rPr lang="en-US" sz="160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fundraising management, </a:t>
                      </a:r>
                      <a:r>
                        <a:rPr lang="en-US" sz="16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AI-based mentor matching</a:t>
                      </a:r>
                      <a:endParaRPr lang="en-US" sz="16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205688" marR="205688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7182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4887-F9B7-5E36-A60A-7700588DF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8955B50-4FEA-DCF8-2551-D9C28CB7B81E}"/>
              </a:ext>
            </a:extLst>
          </p:cNvPr>
          <p:cNvSpPr/>
          <p:nvPr/>
        </p:nvSpPr>
        <p:spPr>
          <a:xfrm>
            <a:off x="719814" y="565646"/>
            <a:ext cx="1075206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Conceptual Design: System Architecture</a:t>
            </a:r>
            <a:endParaRPr lang="en-US" sz="180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8D497A5-AE89-6D32-539E-07DED845C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69" y="960636"/>
            <a:ext cx="10690057" cy="5310386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88124CEE-0E2D-8587-51CF-47F2B0C90E8F}"/>
              </a:ext>
            </a:extLst>
          </p:cNvPr>
          <p:cNvSpPr/>
          <p:nvPr/>
        </p:nvSpPr>
        <p:spPr>
          <a:xfrm>
            <a:off x="8638609" y="2471440"/>
            <a:ext cx="2199114" cy="274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B7FB2431-DDF0-D438-29BB-B3F8DC47E382}"/>
              </a:ext>
            </a:extLst>
          </p:cNvPr>
          <p:cNvSpPr/>
          <p:nvPr/>
        </p:nvSpPr>
        <p:spPr>
          <a:xfrm>
            <a:off x="8638609" y="4471524"/>
            <a:ext cx="2199114" cy="274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6D7E3A5-B330-2D8A-C1FC-64E2E1FEC53B}"/>
              </a:ext>
            </a:extLst>
          </p:cNvPr>
          <p:cNvSpPr/>
          <p:nvPr/>
        </p:nvSpPr>
        <p:spPr>
          <a:xfrm>
            <a:off x="1353812" y="4471524"/>
            <a:ext cx="2199114" cy="274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805E5875-6463-CFE0-5F35-259F33068A58}"/>
              </a:ext>
            </a:extLst>
          </p:cNvPr>
          <p:cNvSpPr/>
          <p:nvPr/>
        </p:nvSpPr>
        <p:spPr>
          <a:xfrm>
            <a:off x="1354820" y="2466232"/>
            <a:ext cx="2199114" cy="274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70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1F3DAAF9-E368-B9B7-A548-1397C8EE1957}"/>
              </a:ext>
            </a:extLst>
          </p:cNvPr>
          <p:cNvSpPr/>
          <p:nvPr/>
        </p:nvSpPr>
        <p:spPr>
          <a:xfrm>
            <a:off x="719814" y="6328866"/>
            <a:ext cx="10752067" cy="23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Three-tier core: React/Vite frontend, Spring Boot REST backend, MySQL relational database. An internal-only Python/FastAPI service handles data cleaning and statistical analysis, called exclusively by the backend. Communication: REST/JSON over HTTPS for standard requests; WebSocket (STOMP) for real-time messaging.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45814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A95D5-BAA4-1980-AAC0-257F3F1F2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0CCA2785-1D4D-94F2-7EDC-3A89BBE851DA}"/>
              </a:ext>
            </a:extLst>
          </p:cNvPr>
          <p:cNvSpPr/>
          <p:nvPr/>
        </p:nvSpPr>
        <p:spPr>
          <a:xfrm>
            <a:off x="426582" y="1804138"/>
            <a:ext cx="1060546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1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Conceptual Design: Data Model Overview</a:t>
            </a:r>
            <a:endParaRPr lang="en-US" sz="18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22A268E9-7FE9-B47B-B141-9B802F5C043D}"/>
              </a:ext>
            </a:extLst>
          </p:cNvPr>
          <p:cNvSpPr/>
          <p:nvPr/>
        </p:nvSpPr>
        <p:spPr>
          <a:xfrm>
            <a:off x="713771" y="2225040"/>
            <a:ext cx="4132550" cy="1715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2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27-table relational schema </a:t>
            </a:r>
          </a:p>
          <a:p>
            <a:pPr marL="0" indent="0" algn="ctr">
              <a:lnSpc>
                <a:spcPct val="94000"/>
              </a:lnSpc>
              <a:buNone/>
            </a:pPr>
            <a:r>
              <a:rPr lang="en-US" sz="2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 35 foreign-key </a:t>
            </a:r>
          </a:p>
          <a:p>
            <a:pPr marL="0" indent="0" algn="ctr">
              <a:lnSpc>
                <a:spcPct val="94000"/>
              </a:lnSpc>
              <a:buNone/>
            </a:pPr>
            <a:r>
              <a:rPr lang="en-US" sz="2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relationships across </a:t>
            </a:r>
          </a:p>
          <a:p>
            <a:pPr marL="0" indent="0" algn="ctr">
              <a:lnSpc>
                <a:spcPct val="94000"/>
              </a:lnSpc>
              <a:buNone/>
            </a:pPr>
            <a:r>
              <a:rPr lang="en-US" sz="2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entity clusters.</a:t>
            </a:r>
            <a:endParaRPr lang="en-US" sz="28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916675A2-9EE1-2301-4076-E4B7236A5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841" y="262836"/>
            <a:ext cx="6245830" cy="633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157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F175D-BA3D-510C-80B8-2B6C4259A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0">
            <a:extLst>
              <a:ext uri="{FF2B5EF4-FFF2-40B4-BE49-F238E27FC236}">
                <a16:creationId xmlns:a16="http://schemas.microsoft.com/office/drawing/2014/main" id="{D8743D7C-0462-A0B3-18EB-107AE11D94F3}"/>
              </a:ext>
            </a:extLst>
          </p:cNvPr>
          <p:cNvSpPr/>
          <p:nvPr/>
        </p:nvSpPr>
        <p:spPr>
          <a:xfrm>
            <a:off x="0" y="2243976"/>
            <a:ext cx="12192000" cy="1772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483898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745</Words>
  <Application>Microsoft Office PowerPoint</Application>
  <PresentationFormat>Widescreen</PresentationFormat>
  <Paragraphs>125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Calibri</vt:lpstr>
      <vt:lpstr>Calibri Light</vt:lpstr>
      <vt:lpstr>Montserrat Bold</vt:lpstr>
      <vt:lpstr>Noto Serif</vt:lpstr>
      <vt:lpstr>Noto Serif Bold</vt:lpstr>
      <vt:lpstr>Noto Serif Medium</vt:lpstr>
      <vt:lpstr>Source Sans 3</vt:lpstr>
      <vt:lpstr>Source Sans 3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Aryan</dc:creator>
  <cp:lastModifiedBy>Mr. Aryan</cp:lastModifiedBy>
  <cp:revision>1</cp:revision>
  <dcterms:created xsi:type="dcterms:W3CDTF">2026-10-01T04:28:55Z</dcterms:created>
  <dcterms:modified xsi:type="dcterms:W3CDTF">2026-10-01T05:23:49Z</dcterms:modified>
</cp:coreProperties>
</file>